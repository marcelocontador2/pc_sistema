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97" r:id="rId8"/>
    <p:sldId id="263" r:id="rId9"/>
    <p:sldId id="264" r:id="rId10"/>
    <p:sldId id="265" r:id="rId11"/>
    <p:sldId id="266" r:id="rId12"/>
    <p:sldId id="267" r:id="rId13"/>
    <p:sldId id="269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68" r:id="rId23"/>
    <p:sldId id="281" r:id="rId24"/>
    <p:sldId id="282" r:id="rId25"/>
    <p:sldId id="283" r:id="rId26"/>
    <p:sldId id="284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4" r:id="rId35"/>
    <p:sldId id="295" r:id="rId36"/>
    <p:sldId id="296" r:id="rId37"/>
    <p:sldId id="293" r:id="rId38"/>
    <p:sldId id="270" r:id="rId39"/>
    <p:sldId id="271" r:id="rId40"/>
    <p:sldId id="272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0A3760"/>
                </a:solidFill>
                <a:latin typeface="Arial"/>
              </a:rPr>
              <a:t>Evolução das Principais Contas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Ativo
Circulante</c:v>
                </c:pt>
                <c:pt idx="1">
                  <c:v>Ativo Não
Circulante</c:v>
                </c:pt>
                <c:pt idx="2">
                  <c:v>Passivo
Circulante</c:v>
                </c:pt>
                <c:pt idx="3">
                  <c:v>Patrimônio
Líquido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259.5</c:v>
                </c:pt>
                <c:pt idx="1">
                  <c:v>139.1</c:v>
                </c:pt>
                <c:pt idx="2">
                  <c:v>10.79</c:v>
                </c:pt>
                <c:pt idx="3">
                  <c:v>375.7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0B-4BFB-92C1-EBDF91B69B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Ativo
Circulante</c:v>
                </c:pt>
                <c:pt idx="1">
                  <c:v>Ativo Não
Circulante</c:v>
                </c:pt>
                <c:pt idx="2">
                  <c:v>Passivo
Circulante</c:v>
                </c:pt>
                <c:pt idx="3">
                  <c:v>Patrimônio
Líquido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312.5</c:v>
                </c:pt>
                <c:pt idx="1">
                  <c:v>324.3</c:v>
                </c:pt>
                <c:pt idx="2">
                  <c:v>10.66</c:v>
                </c:pt>
                <c:pt idx="3">
                  <c:v>625.6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0B-4BFB-92C1-EBDF91B69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Receita, Despesa e Superávit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Receita
Realizada</c:v>
                </c:pt>
                <c:pt idx="1">
                  <c:v>Despesa
Paga</c:v>
                </c:pt>
                <c:pt idx="2">
                  <c:v>Superávit
Orçamentário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139.38</c:v>
                </c:pt>
                <c:pt idx="1">
                  <c:v>78.680000000000007</c:v>
                </c:pt>
                <c:pt idx="2">
                  <c:v>60.7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A8-4526-A19E-9000E8C052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Receita
Realizada</c:v>
                </c:pt>
                <c:pt idx="1">
                  <c:v>Despesa
Paga</c:v>
                </c:pt>
                <c:pt idx="2">
                  <c:v>Superávit
Orçamentário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140.38999999999999</c:v>
                </c:pt>
                <c:pt idx="1">
                  <c:v>101.05</c:v>
                </c:pt>
                <c:pt idx="2">
                  <c:v>39.340000000000003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A8-4526-A19E-9000E8C052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E4F-48C6-9C2F-AD00D3E92CB0}"/>
              </c:ext>
            </c:extLst>
          </c:dPt>
          <c:dPt>
            <c:idx val="1"/>
            <c:bubble3D val="0"/>
            <c:spPr>
              <a:solidFill>
                <a:srgbClr val="3E7C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4F-48C6-9C2F-AD00D3E92CB0}"/>
              </c:ext>
            </c:extLst>
          </c:dPt>
          <c:dPt>
            <c:idx val="2"/>
            <c:bubble3D val="0"/>
            <c:spPr>
              <a:solidFill>
                <a:srgbClr val="9CC7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4F-48C6-9C2F-AD00D3E92CB0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E4F-48C6-9C2F-AD00D3E92CB0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4F-48C6-9C2F-AD00D3E92CB0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4F-48C6-9C2F-AD00D3E92CB0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Transferências dos CORENs</c:v>
                </c:pt>
                <c:pt idx="1">
                  <c:v>Receitas Financeiras</c:v>
                </c:pt>
                <c:pt idx="2">
                  <c:v>Outras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124.6</c:v>
                </c:pt>
                <c:pt idx="1">
                  <c:v>13.47</c:v>
                </c:pt>
                <c:pt idx="2">
                  <c:v>2.3199999999999998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E4F-48C6-9C2F-AD00D3E92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Despesa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7C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89-4589-8974-C02092DF698E}"/>
              </c:ext>
            </c:extLst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89-4589-8974-C02092DF698E}"/>
              </c:ext>
            </c:extLst>
          </c:dPt>
          <c:dPt>
            <c:idx val="2"/>
            <c:bubble3D val="0"/>
            <c:spPr>
              <a:solidFill>
                <a:srgbClr val="9CC7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89-4589-8974-C02092DF698E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89-4589-8974-C02092DF698E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989-4589-8974-C02092DF698E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989-4589-8974-C02092DF698E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Pessoal e Encargos</c:v>
                </c:pt>
                <c:pt idx="1">
                  <c:v>Outras Despesas Correntes</c:v>
                </c:pt>
                <c:pt idx="2">
                  <c:v>Despesas de Capital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26.96</c:v>
                </c:pt>
                <c:pt idx="1">
                  <c:v>58.66</c:v>
                </c:pt>
                <c:pt idx="2">
                  <c:v>15.43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989-4589-8974-C02092DF69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Movimentação de Caixa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Saldo
Inicial</c:v>
                </c:pt>
                <c:pt idx="1">
                  <c:v>Saldo
Final</c:v>
                </c:pt>
                <c:pt idx="2">
                  <c:v>Variação
do Saldo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198.15</c:v>
                </c:pt>
                <c:pt idx="1">
                  <c:v>257.37</c:v>
                </c:pt>
                <c:pt idx="2">
                  <c:v>59.22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D9-44E0-BCFE-4649539369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Saldo
Inicial</c:v>
                </c:pt>
                <c:pt idx="1">
                  <c:v>Saldo
Final</c:v>
                </c:pt>
                <c:pt idx="2">
                  <c:v>Variação
do Saldo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169.96</c:v>
                </c:pt>
                <c:pt idx="1">
                  <c:v>196.09</c:v>
                </c:pt>
                <c:pt idx="2">
                  <c:v>26.13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D9-44E0-BCFE-4649539369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Variações Patrimoniais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Variações
Ativas</c:v>
                </c:pt>
                <c:pt idx="1">
                  <c:v>Variações
Diminutivas</c:v>
                </c:pt>
                <c:pt idx="2">
                  <c:v>Superávit
Patrimonial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146.27000000000001</c:v>
                </c:pt>
                <c:pt idx="1">
                  <c:v>84.17</c:v>
                </c:pt>
                <c:pt idx="2">
                  <c:v>62.1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D2-4EFC-8771-E812246690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Variações
Ativas</c:v>
                </c:pt>
                <c:pt idx="1">
                  <c:v>Variações
Diminutivas</c:v>
                </c:pt>
                <c:pt idx="2">
                  <c:v>Superávit
Patrimonial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139.61000000000001</c:v>
                </c:pt>
                <c:pt idx="1">
                  <c:v>102.07</c:v>
                </c:pt>
                <c:pt idx="2">
                  <c:v>37.53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D2-4EFC-8771-E812246690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% da RCL Comprometido com Pessoal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 RCL comprometido com pessoal</c:v>
                </c:pt>
              </c:strCache>
            </c:strRef>
          </c:tx>
          <c:spPr>
            <a:ln w="38100" cap="flat">
              <a:solidFill>
                <a:srgbClr val="0F4C8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F4C81"/>
              </a:solidFill>
              <a:ln w="9525" cap="flat">
                <a:solidFill>
                  <a:srgbClr val="0F4C8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3760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2S2025</c:v>
                </c:pt>
                <c:pt idx="1">
                  <c:v>1S2026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38.69</c:v>
                </c:pt>
                <c:pt idx="1">
                  <c:v>22.65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BF-43A1-8779-7ADF332B913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49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41B49"/>
                </a:solidFill>
                <a:latin typeface="Calibri"/>
              </a:rPr>
              <a:t>RCL por Período vs. Limite Legal (R$ milhões)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(R$ milhões)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DD-47CE-9EA8-9B67589285A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8DD-47CE-9EA8-9B67589285AF}"/>
              </c:ext>
            </c:extLst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DD-47CE-9EA8-9B67589285AF}"/>
              </c:ext>
            </c:extLst>
          </c:dPt>
          <c:dPt>
            <c:idx val="3"/>
            <c:invertIfNegative val="0"/>
            <c:bubble3D val="0"/>
            <c:spPr>
              <a:solidFill>
                <a:srgbClr val="9AA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8DD-47CE-9EA8-9B67589285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1B49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2S 2025</c:v>
                </c:pt>
                <c:pt idx="1">
                  <c:v>1S 2026</c:v>
                </c:pt>
                <c:pt idx="2">
                  <c:v>Total 12m</c:v>
                </c:pt>
                <c:pt idx="3">
                  <c:v>Limite (50%)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83.73</c:v>
                </c:pt>
                <c:pt idx="1">
                  <c:v>140.38999999999999</c:v>
                </c:pt>
                <c:pt idx="2">
                  <c:v>224.11</c:v>
                </c:pt>
                <c:pt idx="3">
                  <c:v>112.06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8DD-47CE-9EA8-9B67589285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49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41B49"/>
                </a:solidFill>
                <a:latin typeface="Calibri"/>
              </a:rPr>
              <a:t>Participação por Rubrica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618-4C09-864F-EBC940EAD248}"/>
              </c:ext>
            </c:extLst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18-4C09-864F-EBC940EAD248}"/>
              </c:ext>
            </c:extLst>
          </c:dPt>
          <c:dPt>
            <c:idx val="2"/>
            <c:bubble3D val="0"/>
            <c:spPr>
              <a:solidFill>
                <a:srgbClr val="6E8C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18-4C09-864F-EBC940EAD24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18-4C09-864F-EBC940EAD24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18-4C09-864F-EBC940EAD24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18-4C09-864F-EBC940EAD24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Pessoal e Encargos</c:v>
                </c:pt>
                <c:pt idx="1">
                  <c:v>RGPS Variáveis</c:v>
                </c:pt>
                <c:pt idx="2">
                  <c:v>Terceirização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90.83</c:v>
                </c:pt>
                <c:pt idx="1">
                  <c:v>0.9</c:v>
                </c:pt>
                <c:pt idx="2">
                  <c:v>8.35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618-4C09-864F-EBC940EAD2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Comprometimento da RCL com Pessoal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Comprometimento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B4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1C-474E-9E5C-7A67595CC4AC}"/>
              </c:ext>
            </c:extLst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1C-474E-9E5C-7A67595CC4AC}"/>
              </c:ext>
            </c:extLst>
          </c:dPt>
          <c:dPt>
            <c:idx val="2"/>
            <c:bubble3D val="0"/>
            <c:spPr>
              <a:solidFill>
                <a:srgbClr val="EDED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1C-474E-9E5C-7A67595CC4AC}"/>
              </c:ext>
            </c:extLst>
          </c:dPt>
          <c:cat>
            <c:strRef>
              <c:f>Sheet1!$A$2:$A$4</c:f>
              <c:strCache>
                <c:ptCount val="3"/>
                <c:pt idx="0">
                  <c:v>Comprometido (28,64%)</c:v>
                </c:pt>
                <c:pt idx="1">
                  <c:v>Folga até o limite (21,36%)</c:v>
                </c:pt>
                <c:pt idx="2">
                  <c:v>Acima do limite (não aplicável)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28.64</c:v>
                </c:pt>
                <c:pt idx="1">
                  <c:v>21.36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B1C-474E-9E5C-7A67595CC4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Geral (R$)</c:v>
                </c:pt>
              </c:strCache>
            </c:strRef>
          </c:tx>
          <c:spPr>
            <a:solidFill>
              <a:srgbClr val="1F5FA8"/>
            </a:solidFill>
            <a:effectLst/>
          </c:spPr>
          <c:invertIfNegative val="0"/>
          <c:dLbls>
            <c:numFmt formatCode="#,##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13636819.640000001</c:v>
                </c:pt>
                <c:pt idx="1">
                  <c:v>13732613.279999999</c:v>
                </c:pt>
                <c:pt idx="2">
                  <c:v>22887425.379999999</c:v>
                </c:pt>
                <c:pt idx="3">
                  <c:v>17460823.359999999</c:v>
                </c:pt>
                <c:pt idx="4">
                  <c:v>23076386.199999999</c:v>
                </c:pt>
                <c:pt idx="5">
                  <c:v>23205651.18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A1-467B-8871-2FFA0D1FB1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64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0F-4CDF-878D-CAB5D5CE6E61}"/>
              </c:ext>
            </c:extLst>
          </c:dPt>
          <c:dPt>
            <c:idx val="1"/>
            <c:bubble3D val="0"/>
            <c:spPr>
              <a:solidFill>
                <a:srgbClr val="1331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0F-4CDF-878D-CAB5D5CE6E61}"/>
              </c:ext>
            </c:extLst>
          </c:dPt>
          <c:dPt>
            <c:idx val="2"/>
            <c:bubble3D val="0"/>
            <c:spPr>
              <a:solidFill>
                <a:srgbClr val="1F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0F-4CDF-878D-CAB5D5CE6E61}"/>
              </c:ext>
            </c:extLst>
          </c:dPt>
          <c:dPt>
            <c:idx val="3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0F-4CDF-878D-CAB5D5CE6E61}"/>
              </c:ext>
            </c:extLst>
          </c:dPt>
          <c:dPt>
            <c:idx val="4"/>
            <c:bubble3D val="0"/>
            <c:spPr>
              <a:solidFill>
                <a:srgbClr val="5DA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0F-4CDF-878D-CAB5D5CE6E61}"/>
              </c:ext>
            </c:extLst>
          </c:dPt>
          <c:dPt>
            <c:idx val="5"/>
            <c:bubble3D val="0"/>
            <c:spPr>
              <a:solidFill>
                <a:srgbClr val="AED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F0F-4CDF-878D-CAB5D5CE6E6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0F-4CDF-878D-CAB5D5CE6E6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0F-4CDF-878D-CAB5D5CE6E6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0F-4CDF-878D-CAB5D5CE6E6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0F-4CDF-878D-CAB5D5CE6E6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0F-4CDF-878D-CAB5D5CE6E61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0F-4CDF-878D-CAB5D5CE6E6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AF01 Fisc</c:v>
                </c:pt>
                <c:pt idx="1">
                  <c:v>AF02 Insc</c:v>
                </c:pt>
                <c:pt idx="2">
                  <c:v>AF03 Etic</c:v>
                </c:pt>
                <c:pt idx="3">
                  <c:v>AF04 Norm</c:v>
                </c:pt>
                <c:pt idx="4">
                  <c:v>AF05 Coor</c:v>
                </c:pt>
                <c:pt idx="5">
                  <c:v>AF06 Adm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11545361.130000001</c:v>
                </c:pt>
                <c:pt idx="1">
                  <c:v>15884632.57</c:v>
                </c:pt>
                <c:pt idx="2">
                  <c:v>9768588.0800000001</c:v>
                </c:pt>
                <c:pt idx="3">
                  <c:v>11329195.41</c:v>
                </c:pt>
                <c:pt idx="4">
                  <c:v>38113611.109999999</c:v>
                </c:pt>
                <c:pt idx="5">
                  <c:v>27358330.739999998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F0F-4CDF-878D-CAB5D5CE6E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Transferências
Correntes</c:v>
                </c:pt>
                <c:pt idx="1">
                  <c:v>Receitas
Patrimoniais</c:v>
                </c:pt>
                <c:pt idx="2">
                  <c:v>Outras Receitas
Correntes</c:v>
                </c:pt>
                <c:pt idx="3">
                  <c:v>Receitas de
Capital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121.73</c:v>
                </c:pt>
                <c:pt idx="1">
                  <c:v>15.34</c:v>
                </c:pt>
                <c:pt idx="2">
                  <c:v>2.2599999999999998</c:v>
                </c:pt>
                <c:pt idx="3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C7-47B2-AE45-56F84E3CDD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4FB3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Transferências
Correntes</c:v>
                </c:pt>
                <c:pt idx="1">
                  <c:v>Receitas
Patrimoniais</c:v>
                </c:pt>
                <c:pt idx="2">
                  <c:v>Outras Receitas
Correntes</c:v>
                </c:pt>
                <c:pt idx="3">
                  <c:v>Receitas de
Capital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124.6</c:v>
                </c:pt>
                <c:pt idx="1">
                  <c:v>13.47</c:v>
                </c:pt>
                <c:pt idx="2">
                  <c:v>2.3199999999999998</c:v>
                </c:pt>
                <c:pt idx="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C7-47B2-AE45-56F84E3CDD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69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F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69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Arrecadação (R$ mi)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Pará</c:v>
                </c:pt>
                <c:pt idx="1">
                  <c:v>Ceará</c:v>
                </c:pt>
                <c:pt idx="2">
                  <c:v>Santa Catarina</c:v>
                </c:pt>
                <c:pt idx="3">
                  <c:v>Pernambuco</c:v>
                </c:pt>
                <c:pt idx="4">
                  <c:v>Rio Grande do Sul</c:v>
                </c:pt>
                <c:pt idx="5">
                  <c:v>Bahia</c:v>
                </c:pt>
                <c:pt idx="6">
                  <c:v>Paraná</c:v>
                </c:pt>
                <c:pt idx="7">
                  <c:v>Minas Gerais</c:v>
                </c:pt>
                <c:pt idx="8">
                  <c:v>Rio de Janeiro</c:v>
                </c:pt>
                <c:pt idx="9">
                  <c:v>São Paulo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4.08</c:v>
                </c:pt>
                <c:pt idx="1">
                  <c:v>4.1399999999999997</c:v>
                </c:pt>
                <c:pt idx="2">
                  <c:v>4.3899999999999997</c:v>
                </c:pt>
                <c:pt idx="3">
                  <c:v>4.62</c:v>
                </c:pt>
                <c:pt idx="4">
                  <c:v>5.79</c:v>
                </c:pt>
                <c:pt idx="5">
                  <c:v>6.27</c:v>
                </c:pt>
                <c:pt idx="6">
                  <c:v>7.44</c:v>
                </c:pt>
                <c:pt idx="7">
                  <c:v>11.8</c:v>
                </c:pt>
                <c:pt idx="8">
                  <c:v>12.12</c:v>
                </c:pt>
                <c:pt idx="9">
                  <c:v>31.83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6-4A3D-8773-48280B2533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6FAFD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707-43D9-B068-BE5B9A057350}"/>
              </c:ext>
            </c:extLst>
          </c:dPt>
          <c:dPt>
            <c:idx val="1"/>
            <c:bubble3D val="0"/>
            <c:spPr>
              <a:solidFill>
                <a:srgbClr val="1E7F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707-43D9-B068-BE5B9A057350}"/>
              </c:ext>
            </c:extLst>
          </c:dPt>
          <c:dPt>
            <c:idx val="2"/>
            <c:bubble3D val="0"/>
            <c:spPr>
              <a:solidFill>
                <a:srgbClr val="4FB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707-43D9-B068-BE5B9A057350}"/>
              </c:ext>
            </c:extLst>
          </c:dPt>
          <c:dPt>
            <c:idx val="3"/>
            <c:bubble3D val="0"/>
            <c:spPr>
              <a:solidFill>
                <a:srgbClr val="6FA8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707-43D9-B068-BE5B9A057350}"/>
              </c:ext>
            </c:extLst>
          </c:dPt>
          <c:dPt>
            <c:idx val="4"/>
            <c:bubble3D val="0"/>
            <c:spPr>
              <a:solidFill>
                <a:srgbClr val="BBDA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707-43D9-B068-BE5B9A057350}"/>
              </c:ext>
            </c:extLst>
          </c:dPt>
          <c:dPt>
            <c:idx val="5"/>
            <c:bubble3D val="0"/>
            <c:spPr>
              <a:solidFill>
                <a:srgbClr val="DCEA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707-43D9-B068-BE5B9A057350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07-43D9-B068-BE5B9A057350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07-43D9-B068-BE5B9A057350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707-43D9-B068-BE5B9A057350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07-43D9-B068-BE5B9A057350}"/>
                </c:ext>
              </c:extLst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707-43D9-B068-BE5B9A057350}"/>
                </c:ext>
              </c:extLst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707-43D9-B068-BE5B9A057350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São Paulo</c:v>
                </c:pt>
                <c:pt idx="1">
                  <c:v>Rio de Janeiro</c:v>
                </c:pt>
                <c:pt idx="2">
                  <c:v>Minas Gerais</c:v>
                </c:pt>
                <c:pt idx="3">
                  <c:v>Paraná</c:v>
                </c:pt>
                <c:pt idx="4">
                  <c:v>Bahia</c:v>
                </c:pt>
                <c:pt idx="5">
                  <c:v>Demais CORENs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25.89</c:v>
                </c:pt>
                <c:pt idx="1">
                  <c:v>9.85</c:v>
                </c:pt>
                <c:pt idx="2">
                  <c:v>9.59</c:v>
                </c:pt>
                <c:pt idx="3">
                  <c:v>6.05</c:v>
                </c:pt>
                <c:pt idx="4">
                  <c:v>5.0999999999999996</c:v>
                </c:pt>
                <c:pt idx="5">
                  <c:v>43.52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707-43D9-B068-BE5B9A0573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716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0181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chart" Target="../charts/chart1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chart" Target="../charts/chart1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-548640"/>
            <a:ext cx="3200400" cy="3200400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das Demonstrações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Contábeis — Cofen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4069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de 2026 — Integridade, Consistência e Desempenho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2011680" cy="0"/>
          </a:xfrm>
          <a:prstGeom prst="line">
            <a:avLst/>
          </a:prstGeom>
          <a:noFill/>
          <a:ln w="25400">
            <a:solidFill>
              <a:srgbClr val="9CC7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Brasília, 15 de julho de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20072" y="5989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COFEN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Objetivo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Entidade: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 (COFEN) — Autarquia federal.
</a:t>
            </a: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analisado: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de 2026, com comparativos ao 1º semestre de 2025 e 12 meses consolidados para fins de LRF.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DA ANÁLISE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3172968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 integridade, consistência e conformidade das demonstrações contábeis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7356" y="324612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77356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99148" y="3172968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desempenho orçamentário, financeiro e patrimonial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3038" y="4414827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4149651"/>
            <a:ext cx="457200" cy="970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4379803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 enquadramento nos limites de gastos com pessoal (LRF)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1941" y="4368589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269937" y="4149651"/>
            <a:ext cx="457200" cy="895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99148" y="4368474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mensais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custos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CDAE6617-559E-2C20-9582-A2467D6A3B45}"/>
              </a:ext>
            </a:extLst>
          </p:cNvPr>
          <p:cNvSpPr/>
          <p:nvPr/>
        </p:nvSpPr>
        <p:spPr>
          <a:xfrm>
            <a:off x="463038" y="5458968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D6551362-BE5D-092C-F364-EFA029B729E7}"/>
              </a:ext>
            </a:extLst>
          </p:cNvPr>
          <p:cNvSpPr/>
          <p:nvPr/>
        </p:nvSpPr>
        <p:spPr>
          <a:xfrm>
            <a:off x="6131052" y="5541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6FD7AA36-A8A3-F632-37FD-F86AC87E6D0C}"/>
              </a:ext>
            </a:extLst>
          </p:cNvPr>
          <p:cNvSpPr/>
          <p:nvPr/>
        </p:nvSpPr>
        <p:spPr>
          <a:xfrm>
            <a:off x="1106424" y="5486400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</a:t>
            </a:r>
            <a:endParaRPr lang="en-US" sz="135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6849B402-DB6F-D676-0597-FD3A8881119D}"/>
              </a:ext>
            </a:extLst>
          </p:cNvPr>
          <p:cNvSpPr/>
          <p:nvPr/>
        </p:nvSpPr>
        <p:spPr>
          <a:xfrm>
            <a:off x="6926580" y="5538906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fortes, pontos de atenção e recomendações</a:t>
            </a:r>
            <a:endParaRPr lang="en-US" sz="135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6AAB67B4-DC10-7423-CB7A-D798FFB13798}"/>
              </a:ext>
            </a:extLst>
          </p:cNvPr>
          <p:cNvSpPr/>
          <p:nvPr/>
        </p:nvSpPr>
        <p:spPr>
          <a:xfrm>
            <a:off x="6295644" y="5520733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C50D9975-EB46-07ED-3C23-989BA7B621B0}"/>
              </a:ext>
            </a:extLst>
          </p:cNvPr>
          <p:cNvSpPr/>
          <p:nvPr/>
        </p:nvSpPr>
        <p:spPr>
          <a:xfrm>
            <a:off x="432816" y="5384091"/>
            <a:ext cx="540142" cy="559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F2DF4A19-8C18-ACCB-ED8B-F74BF5FEB155}"/>
              </a:ext>
            </a:extLst>
          </p:cNvPr>
          <p:cNvSpPr/>
          <p:nvPr/>
        </p:nvSpPr>
        <p:spPr>
          <a:xfrm>
            <a:off x="6318448" y="5522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Legal e Metodologia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E NORMAS APLICADAS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4.320/1964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090672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51560" y="290779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nº 101/2000 (LRF)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986784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51560" y="3803904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Contabilidade Aplicada ao Setor Público (MCASP)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882896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51560" y="470001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Brasileiras de Contabilidade – Setor Público (NBC TSP)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417320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DEMONSTRAÇÕES ANALISADAS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Orçamentário (BO)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258568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355080" y="2258568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(BF)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642616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355080" y="2642616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das Variações Patrimoniais (DVP)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026664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355080" y="3026664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(BP)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410712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355080" y="3410712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de Verificação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4069080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 COMPARATIVOS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434840"/>
            <a:ext cx="5513832" cy="1234440"/>
          </a:xfrm>
          <a:prstGeom prst="roundRect">
            <a:avLst>
              <a:gd name="adj" fmla="val 5926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92240" y="4434840"/>
            <a:ext cx="49651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1S2025  ×  1S2026
</a:t>
            </a:r>
            <a:r>
              <a:rPr lang="en-US" sz="11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(2S2025 + 1S2026) para fins de LRF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Gerais — 1º Semestre de 2026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-70,9 mi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Orçamentário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489704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R$ 16,3 mi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89704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Patrimonial (DVP)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6448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339328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R$ 604,4 mi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39328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Financeiro (BP)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R$ 604,4 mi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06824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489704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R$ 616,6 mi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489704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6448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339328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R$ 12,2 mi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39328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 Total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demonstrativos estão equilibrados e consistentes entre si.  Equação patrimonial: Ativo = Passivo + PL (R$ 616,6 milhões).</a:t>
            </a:r>
            <a:r>
              <a:rPr lang="en-US" sz="1250" i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INFORMAÇÃO CONTÁBIL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Integridade e Consistência das Demonstrações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Formal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conformidade com o MCASP e a NBC TSP 11.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35424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35424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84064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Legal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5424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e segregações adequadas à Lei 4.320/1964 e à LRF.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385048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85048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33688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Conciliação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85048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confirma os saldos; contas de controle e compensação consistentes.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INTERNO ENTRE DEMONSTRATIVOS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85800" y="37033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(BP)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37033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 = Passivo + Patrimônio Líquido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0" y="370332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R$ 616,6 mi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85800" y="45262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das Variações Patrimoniais (DVP)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45262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patrimonial do período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0" y="452628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R$ 16,3 mi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34924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85800" y="5349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(BF)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0" y="53492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Ingressos totais = Dispêndios totais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44000" y="534924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R$ 184,6 mi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INFORMAÇÃO CONTÁBIL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Consistência entre Demonstrações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2188952" cy="44805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Paga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R$ 101,05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R$ 101,05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Orçamentário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R$ 38,20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R$ 139,61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Diminutivas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R$ 102,07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Patrimonial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R$ 37,53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Afeta o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R$ 636,80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R$ 11,17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R$ 625,63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 = Ativo – Passivo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PATRIMONIAL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Patrimonial — Estrutura e Evolução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889813"/>
              </p:ext>
            </p:extLst>
          </p:nvPr>
        </p:nvGraphicFramePr>
        <p:xfrm>
          <a:off x="457200" y="1371600"/>
          <a:ext cx="6309360" cy="4343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+20,42%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Não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+133,14%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Realizável a Longo 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+1,47%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636,80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+59,76%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Não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-95,77%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375,70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+66,51%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995160" y="1371600"/>
          <a:ext cx="4736592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8704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crescimento do PL explicado pelo aumento de créditos tributários a receber (superávit patrimonial de R$ 16,3 mi); aumento do imobilizado reflete investimentos na futura sede; baixíssima participação do passivo exigível (1.98% do ativo).</a:t>
            </a: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Econômico-Financeira — 1Sem 2026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4206237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Imediata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/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 capacidade de pagamento imediato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Corrente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/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29x as obrigações de curto 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(AC+ARLP)/(PC+PNC)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todas as obrigações com todos os ativos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Endividamento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Total / 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baixo; quase sem dívidas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Part. de Capital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/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cada R$1 de PL, apenas R$0,02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Imobilização do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(Ativo Perm. – ARLP)/PL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40,89%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Adequado, sem comprometimento excessivo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80644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0A37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31520" y="58064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posição financeira extremamente sólida e de baixo risco (Liquidez Corrente de 25.71).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Orçamentária Comparativa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198816"/>
              </p:ext>
            </p:extLst>
          </p:nvPr>
        </p:nvGraphicFramePr>
        <p:xfrm>
          <a:off x="457200" y="1371600"/>
          <a:ext cx="6675120" cy="4480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140,39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Paga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+28,44%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Orçamentário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-35,19%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Empenhada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212,16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+26,96%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Restos a Pagar Inscritos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+82,96%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Execução da Receita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 p.p.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Empenho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67,02%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+16,88 p.p.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96188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conclusões: receita cresce de forma moderada (+1.73%) enquanto as despesas aceleram (+9.80%); o superávit orçamentário variou 38.33%, exigindo monitoramento.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da Receita e da Despesa — 1Sem 2026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08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REALIZADA — PRINCIPAIS FONTES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54086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5408676" cy="822960"/>
        </p:xfrm>
        <a:graphic>
          <a:graphicData uri="http://schemas.openxmlformats.org/drawingml/2006/table">
            <a:tbl>
              <a:tblPr/>
              <a:tblGrid>
                <a:gridCol w="303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dos CORENs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R$ 124,60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Receitas Financeiras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R$ 13,47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R$ 2,32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323076" y="1371600"/>
            <a:ext cx="5408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 PAGA — PRINCIPAIS GRUPOS</a:t>
            </a:r>
            <a:endParaRPr lang="en-US" sz="12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23076" y="1737360"/>
          <a:ext cx="54086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3076" y="4526280"/>
          <a:ext cx="5408676" cy="822960"/>
        </p:xfrm>
        <a:graphic>
          <a:graphicData uri="http://schemas.openxmlformats.org/drawingml/2006/table">
            <a:tbl>
              <a:tblPr/>
              <a:tblGrid>
                <a:gridCol w="303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Pessoal e Encargos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R$ 26,96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 Despesas Correntes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R$ 58,66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58,05%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Despesas de 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R$ 15,43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4"/>
          <p:cNvSpPr/>
          <p:nvPr/>
        </p:nvSpPr>
        <p:spPr>
          <a:xfrm>
            <a:off x="457200" y="55321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2,36% nas transferências dos CORENs · queda de 12,20% nas receitas financeiras (menor Selic) · crescimento de 97,36% nas despesas de capital (aquisição da sede).</a:t>
            </a:r>
            <a:endParaRPr lang="en-US" sz="1050" dirty="0"/>
          </a:p>
        </p:txBody>
      </p:sp>
      <p:sp>
        <p:nvSpPr>
          <p:cNvPr id="6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FINANCEIRA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Financeiro — 1Sem 2025 vs 1Sem 2026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491613"/>
              </p:ext>
            </p:extLst>
          </p:nvPr>
        </p:nvGraphicFramePr>
        <p:xfrm>
          <a:off x="457200" y="1371600"/>
          <a:ext cx="6675120" cy="393192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Ingressos Totais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-8,57%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Dispêndios Totais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-8,57%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Inicial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198,15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169,96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-14,22%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Final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257,37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196,09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-23,81%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 do Saldo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+59,22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+26,13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-55,88%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Pagamentos de Restos a Pagar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+120,28%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468112"/>
            <a:ext cx="11274552" cy="896112"/>
          </a:xfrm>
          <a:prstGeom prst="roundRect">
            <a:avLst>
              <a:gd name="adj" fmla="val 816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685800" y="5468112"/>
            <a:ext cx="108173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Conclusões: o caixa permanece equilibrado; há variação na geração de caixa; e os pagamentos de restos a pagar impactam o caixa futuro.</a:t>
            </a: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PATRIMONIAL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das Variações Patrimoniais (DVP)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675120" cy="4572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146,27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-4,55%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Recebidas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 de Provisões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-92,91%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Diminutivas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+21,27%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Pessoal e Encargos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+15,43%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Serviços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+19,36%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Concedidas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+67,92%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Patrimonial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-39,56%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7360920" y="4617720"/>
            <a:ext cx="4370832" cy="1325880"/>
          </a:xfrm>
          <a:prstGeom prst="roundRect">
            <a:avLst>
              <a:gd name="adj" fmla="val 5517"/>
            </a:avLst>
          </a:prstGeom>
          <a:solidFill>
            <a:srgbClr val="0A376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7" name="Text 3"/>
          <p:cNvSpPr/>
          <p:nvPr/>
        </p:nvSpPr>
        <p:spPr>
          <a:xfrm>
            <a:off x="7589520" y="47091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patrimonial
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42,45% → 26,88% </a:t>
            </a:r>
            <a:b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Patrimonial / 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Ativas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 PESSOAL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Semestral do Custo de Pessoal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035040" cy="29260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2S2025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Corrente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83.726.570,80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140.385.490,44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Pessoal Ajustado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32.389.437,01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31.794.128,29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da RCL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38,69%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LRF (50%)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720840" y="1417320"/>
          <a:ext cx="5010912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6720840" y="1691640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legal: 50%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4617720"/>
            <a:ext cx="11274552" cy="1234440"/>
          </a:xfrm>
          <a:prstGeom prst="roundRect">
            <a:avLst>
              <a:gd name="adj" fmla="val 6667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777240" y="4617720"/>
            <a:ext cx="10634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 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expressiva no indicador, com queda de 16,04 p.p., </a:t>
            </a:r>
            <a:r>
              <a:rPr lang="en-US" sz="14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devido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4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receita.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DE RESPONSABILIDADE FISCAL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Despesa com Pessoal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Limite da LRF (Art. 19)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Apuração consolidada — 2º Semestre/2025 e 1º Semestre/2026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461772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Complementar nº 101/2000 — Art. 18 e 19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apuração: julho/2025 a junho/2026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da Análise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9385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e Metodologia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na LRF, período de apuração e composição do custo de pessoal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Corrente Líquida (RCL)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33832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RCL consolidada dos 12 meses e limite legal de 50%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1605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4160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33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Consolidado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4805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por rubrica — versão bruta e ajustada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85800" y="5257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2303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55778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do custo de pessoal com o limite da LRF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Fundamentação Legal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nº 101/2000 — Lei de Responsabilidade Fiscal (LRF)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A1A1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Máximo de Despesa com Pessoal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despesa total com pessoal não poderá exceder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da Receita Corrente Líquida (RCL)</a:t>
            </a:r>
            <a:r>
              <a:rPr lang="en-US" sz="14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 União.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120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6012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RCL — teto legal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96596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Compõe a Despesa com Pessoal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Vencimentos, vantagens e encargos sociais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 previdenciárias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com contratos de terceirização de mão de obra (§ 1º)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5074920"/>
            <a:ext cx="4846320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0" y="52578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Exceção: </a:t>
            </a:r>
            <a:r>
              <a:rPr lang="en-US" sz="12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sentenças judiciais trabalhistas </a:t>
            </a: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integram o cálculo da despesa total com </a:t>
            </a:r>
            <a:r>
              <a:rPr lang="en-US" sz="1250" dirty="0" err="1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Art.  19º IV.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1.3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Período de Apuração e Composição do Custo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2025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Julho a Dezembro / 2025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1722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Janeiro a Junho / 2026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7220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12 meses consolidados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Rubricas Orçamentárias (fase de liquidação)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231319"/>
              </p:ext>
            </p:extLst>
          </p:nvPr>
        </p:nvGraphicFramePr>
        <p:xfrm>
          <a:off x="640080" y="4069080"/>
          <a:ext cx="10881360" cy="233172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PESSOAL E ENCARGOS SOCIAIS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Vencimentos, gratificações, férias, 13º, encargos patronais (INSS, PIS, FGTS), benefícios, indenizações e sentenças judiciais trabalhistas.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OUTRAS DESP. VARIÁVEIS — PESSOAL CIVIL - RGPS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Substituições, horas extras e ressarcimento de pessoal requisitado.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OUTRAS DESP. DE PESSOAL — TERCEIRIZAÇÃO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Serviços de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terceirização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(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mão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de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obra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em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substituição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a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empregados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públicos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),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conforme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art. 18, § 1º da LRF.</a:t>
                      </a:r>
                      <a:endParaRPr lang="en-US" sz="1150" dirty="0"/>
                    </a:p>
                    <a:p>
                      <a:pPr marL="0" indent="0">
                        <a:buNone/>
                      </a:pP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Receita Corrente Líquida (RCL) Consolidada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1737360"/>
          <a:ext cx="557784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Período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Receitas Correntes Realizadas (R$)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2º Semestre 2025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R$ 83.726.570,80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1º Semestre 2026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R$ 140.385.490,44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TOTAL 12 MESES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R$ 224.112.061,24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B49"/>
                          </a:solidFill>
                        </a:rPr>
                        <a:t>Limite LRF (50% da RCL)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41B49"/>
                          </a:solidFill>
                        </a:rPr>
                        <a:t>R$ 112.056.030,62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446520" y="1737360"/>
          <a:ext cx="50749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2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RCL total dos 12 meses ultrapassa R$ 224 milhões, estabelecendo um limite legal de aproximadamente R$ 112 milhões para despesa com pessoal.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Pessoal Consolidado (12 meses)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por rubrica — despesas liquidadas, sem ajuste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958890"/>
              </p:ext>
            </p:extLst>
          </p:nvPr>
        </p:nvGraphicFramePr>
        <p:xfrm>
          <a:off x="640080" y="1874520"/>
          <a:ext cx="6903720" cy="27432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Rubrica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2S 2025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1S 2026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12m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Pessoal e Encargos Sociais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R$ 51.200.976,25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R$ 79.145.326,34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90,83%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Outras Desp. Variáveis — RGPS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R$ 454.113,31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R$ 326.099,64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R$ 780.212,95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0,90%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Terceirização (Art. 18, § 1º)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R$ 3.750.044,96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R$ 3.523.678,56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R$ 7.273.723,52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8,35%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 TOTAL DE PESSOAL (bruto)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R$ 55.405.134,52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R$ 31.794.128,29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R$ 87.199.262,81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7772400" y="1828800"/>
          <a:ext cx="37490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3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bruto de pessoal totaliza R$ 87,2 milhões — predominantemente vencimentos e encargos (90,83%).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Ajuste: Exclusão de Sentenças Judiciais Trabalhistas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aplicada apenas no exercício de 2025, conforme solicitado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638375"/>
              </p:ext>
            </p:extLst>
          </p:nvPr>
        </p:nvGraphicFramePr>
        <p:xfrm>
          <a:off x="640080" y="1920240"/>
          <a:ext cx="10881360" cy="371246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Rubrica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2S 2025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1S 2026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12m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Pessoal e Encargos Sociais (bruto)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R$ 51.200.976,25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R$ 79.145.326,34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(−) Sentenças </a:t>
                      </a:r>
                      <a:r>
                        <a:rPr lang="en-US" sz="1050" b="1" dirty="0" err="1">
                          <a:solidFill>
                            <a:srgbClr val="8C2F39"/>
                          </a:solidFill>
                        </a:rPr>
                        <a:t>Judiciais</a:t>
                      </a: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8C2F39"/>
                          </a:solidFill>
                        </a:rPr>
                        <a:t>Trabalhistas</a:t>
                      </a: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 (Art.19º IV).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(23.015.697,51)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0,00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(23.015.697,51)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Pessoal e Encargos Sociais (ajustado)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R$ 28.185.278,74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R$ 56.129.628,83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Outras Desp. Variáveis — RGPS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R$ 454.113,31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R$ 326.099,64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R$ 780.212,95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Terceirização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R$ 3.750.044,96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R$ 3.523.678,56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R$ 7.273.723,52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CUSTO TOTAL DE PESSOAL (ajustado)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R$ 32.389.437,01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R$ 31.794.128,29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R$ 64.183.565,30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do ajuste: </a:t>
            </a: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exclusão das sentenças judiciais trabalhistas de 2025 reduz o custo total de pessoal de R$ 87,2 milhões para R$ 64,2 milhões nos 12 meses.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Pessoal em Relação ao Limite da LRF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LEGAL (50% RCL)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R$ 112,06 mi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estabelecido pelo Art. 19 da LRF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BRUTO (12 meses)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38,91%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5488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R$ 87,20 mi da RCL — sem ajuste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59536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AJUSTADO (12 meses)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9536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28,64%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59536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R$ 64,18 mi da RCL — excluídas sentenças 2025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tanto na versão bruta (38,91%) quanto na versão ajustada (28,64%), o custo de pessoal permanece </a:t>
            </a: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limite de 50% da RCL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estabelecido pelo art. 19 da LRF.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 PESSOAL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de Pessoal (LRF) — 12 Meses Consolidados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despesas liquidadas, com exclusão de sentenças judiciais trabalhistas apenas em 2025 (conforme solicitado) · Base: 2S2025 + 1S2026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Corrente Líquida (12m)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0" y="178308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R$ 224.112.061,24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LRF (50% da RCL)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0" y="235915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R$ 112.056.030,62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2935224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Ajustado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0" y="293522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R$ 64.183.565,30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11296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3511296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da RCL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3511296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28,64%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87368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0080" y="4087368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Folga sobre o Limite LRF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0" y="408736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R$ 47.872.465,32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Prudencial (47,5%) / Folga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4663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R$ 106.453.229,09 / R$ 42.269.663,79</a:t>
            </a:r>
            <a:endParaRPr lang="en-US" sz="10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995160" y="1783080"/>
          <a:ext cx="4736592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5742432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731520" y="5742432"/>
            <a:ext cx="10725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o Acórdão TCU nº 341/2004, os conselhos profissionais não estão subordinados aos limites da LRF, mas a análise demonstra folga confortável.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332720" y="3108960"/>
            <a:ext cx="4206240" cy="4206240"/>
          </a:xfrm>
          <a:prstGeom prst="ellipse">
            <a:avLst/>
          </a:prstGeom>
          <a:solidFill>
            <a:srgbClr val="1F5FA8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Conselho Federal de Enfermagem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Despesas Mensais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Centro de Custo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de Pagamento  —  Período de 01/01/2026 a 30/06/2026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4800600"/>
            <a:ext cx="1828800" cy="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Executado no Período  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R$ 113.999.719,04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CNPJ: 47.217.146/0001-57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Sumário Executivo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132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EXECUTADO (JAN–JUN/2026)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R$ 114,00 mi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Somatório de todos os centros de custo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4564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MENSAL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564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R$ 19,00 mi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564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simples dos 6 meses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996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CENTRO DE CUSTO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996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AF05 · Coordenação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996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33,4% do total (R$ 38,11 mi)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782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9428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DE MAIOR EXECUÇÃO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428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428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R$ 23,21 mi executados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Observações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gasto total cresceu 67% entre fevereiro (R$ 13,7 mi) e março (R$ 22,9 mi), puxado por contribuições institucionais pontuais (CIE e Acordo Cofen/OPAS).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Centros de Custo 05 (Coordenação/Orientação) e 06 (Despesas Administrativas) concentram 57,4% de todo o gasto do semestre.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e junho registraram picos atípicos: aquisição de imóvel (R$ 6,68 mi) em maio no CC06 e investimento PLATEC (R$ 8,67 mi) em junho no CC05.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quatro centros finalísticos (Fiscalização, Inscrição, Ética e Normatização) somam 42,6% do total — menos da metade do orçamento executado.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Mensal do Total Geral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74980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371600"/>
            <a:ext cx="3291840" cy="4846320"/>
          </a:xfrm>
          <a:prstGeom prst="roundRect">
            <a:avLst>
              <a:gd name="adj" fmla="val 22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4964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DO GRÁFICO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49640" y="1965960"/>
            <a:ext cx="2834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Jan–Fev: patamar estável, em torno de R$ 13,6–13,7 mi/mês.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Março: salto de 67% (R$ 22,9 mi), por contribuições institucionais (CIE, Acordo OPAS) lançadas em múltiplos centros de custo.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Abril: recuo para R$ 17,5 mi, sem os itens extraordinários de março.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Maio: nova alta (R$ 23,1 mi) — aquisição de imóvel no CC06.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Junho: pico do semestre (R$ 23,2 mi) — investimento PLATEC no CC05.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Gasto por Centro de Custo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1206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806440" y="1417320"/>
          <a:ext cx="5852160" cy="4572001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Centro de Custo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(R$)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05 · Coordenação / Orientação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R$ 38.113.611,11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33,4%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06 · Despesas Administrativas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R$ 27.358.330,74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24,0%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02 · Inscrição, Registro e Cadastro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R$ 15.884.632,57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13,9%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01 · Fiscalização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R$ 11.545.361,13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10,1%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04 · Normatização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R$ 11.329.195,41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9,9%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03 · Processos Éticos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R$ 9.768.588,08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8,6%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Detalhada — Despesas por Centro de Custo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371600"/>
          <a:ext cx="11338560" cy="44805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Centro de Custo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JAN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FEV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ABR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Realizado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01 · Fiscalização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1.656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1.437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3.176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2.106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1.826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1.345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R$ 11.545.361,13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10,1%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02 · Inscrição, Registro e Cadastro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1.760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2.131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3.809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3.338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2.663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2.184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R$ 15.884.632,57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13,9%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03 · Processos Éticos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1.063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1.089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3.002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1.894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1.567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1.153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R$ 9.768.588,08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8,6%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04 · Normatização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785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1.287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3.115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2.083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1.600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2.460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R$ 11.329.195,41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9,9%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05 · Coordenação / Orientação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5.257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3.971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5.701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4.713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5.150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13.322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R$ 38.113.611,11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33,4%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06 · Despesas Administrativas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3.117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3.818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4.085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3.326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10.270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2.743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R$ 27.358.330,74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24,0%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TOTAL GERAL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13.637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13.733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22.887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17.461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23.076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23.206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R$ 113.999.719,04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100,0%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mensais em R$ mil (milhares). Coluna "Realizado" em R$ correntes.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Destaques e Eventos Atípicos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5453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05 · Coordenação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Junho/2026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R$ 8.672.724,09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0" y="1554480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em PLATEC – COFEN, classificado como aplicação de capital (grupo de Investimentos). Explica isoladamente o pico de junho no centro de custo e no total geral.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3172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06 · Desp. Administrativas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547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Maio/2026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867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R$ 6.682.639,01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14800" y="3182112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Aquisição de "Demais Imóveis", também classificada como investimento. Principal responsável pelo pico de maio no total geral (R$ 23,1 mi).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Múltiplos Centros de Custo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1755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Março/2026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4955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R$ 1.942.345,30 (por CC)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4809744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Contribuições institucionais recorrentes — CIE (Conselho Internacional de Enfermagem) e Acordo de Cooperação Técnica Cofen/OPAS — lançadas em março em cada centro de custo, elevando o total geral do mês em 67% frente a fevereiro.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E7FC2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4FB3E8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Receitas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de 2025 vs. Junho de 2026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38100">
            <a:solidFill>
              <a:srgbClr val="4FB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COFEN/CORENs — Análise de arrecadação, execução orçamentária e desempenho regional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 Executivo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arrecadação acumulada do COFEN atingiu R$ 184,6 milhões em junho de 2026, contra R$ 139,38 milhões em junho de 2025 — crescimento de 0,73%, sustentado principalmente pela evolução das transferências dos CORENs, que compensaram a retração das receitas patrimoniais.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49808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R$ 184,6 mi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13232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Realizada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R$ 139,38 mi em 2025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611880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575304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+0,73%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75304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 Receita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75304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2025 → 2026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72784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73952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4FB3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37376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R$ 232,00 mi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37376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Orçada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37376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R$ 229,69 mi em 2025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34856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336024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299448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99448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99448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-0,17 p.p. vs. 2025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gerais: percentual executado praticamente estável (60,68% em 2025 → 60,51% em 2026), demonstrando aderência ao planejamento orçamentário do Sistema COFEN/CORENs.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Gerais de Receita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consolidado — junho de 2025 x junho de 2026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48640" y="1554480"/>
          <a:ext cx="7315200" cy="17190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Orçada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R$ 229,69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R$ 232,00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R$ 139,38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Percentual Executado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 p.p.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0392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Orçamentária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2423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503920" y="3246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orçamento anual aprovado já realizado até junho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3657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execução orçamentária permanece estável entre os exercícios, indicando aderência ao planejamento orçamentário do Sistema COFEN/CORENs.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por Grupo de Receita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em R$ milhões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4066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630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8412480" y="1627632"/>
            <a:ext cx="146304" cy="146304"/>
          </a:xfrm>
          <a:prstGeom prst="ellipse">
            <a:avLst/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668512" y="1554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Transferências Correntes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41248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+R$ 2,87 mi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0" y="23591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≈89% da arrecadação total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229600" y="30632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8412480" y="3227832"/>
            <a:ext cx="146304" cy="146304"/>
          </a:xfrm>
          <a:prstGeom prst="ellipse">
            <a:avLst/>
          </a:prstGeom>
          <a:solidFill>
            <a:srgbClr val="C144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668512" y="3154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Patrimoniais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412480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-R$ 1,87 mi (-12,2%)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412480" y="3959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rentabilidade financeira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229600" y="46634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8412480" y="4828032"/>
            <a:ext cx="146304" cy="146304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68512" y="4754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Receitas Correntes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412480" y="5120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+R$ 0,07 mi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412480" y="55595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Indenizações e restituições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dos CORENs por Arrecadação — 2026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regionais, valores em R$ milhões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112471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Participação dos Principais CORENs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na arrecadação total transferida ao COFEN em 2026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6692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da Arrecadação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0" y="2103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4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56,5%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766560" y="3063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arrecadação total é concentrada nos 5 principais CORENs (SP, RJ, MG, PR e BA)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66560" y="3977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92640" y="3977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25,89%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4306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92640" y="43068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9,85%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66560" y="46360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Gerais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92640" y="46360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9,59%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4965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Paraná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92640" y="49651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6,05%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52943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92640" y="5294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Projeção para Encerramento de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na execução acumulada de 60,51% até junho, observa-se trajetória compatível com o orçamento anual aprovado de R$ 232 milhões. O comportamento das transferências dos CORENs indica manutenção do fluxo de arrecadação durante o segundo semestre.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9377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análise considera exclusivamente os valores apresentados nos relatórios de junho de 2025 e junho de 2026.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92240" y="237744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E7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92240" y="2377440"/>
            <a:ext cx="3098499" cy="457200"/>
          </a:xfrm>
          <a:prstGeom prst="roundRect">
            <a:avLst>
              <a:gd name="adj" fmla="val 12000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9224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R$ 184,6 mi realizado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R$ 232,00 mi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92240" y="33832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720840" y="34930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20840" y="3767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R$ 184,6 mi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(Jan-Jun/2026)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44805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720840" y="45902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(projeção)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20840" y="4864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R$ 91,61 mi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 p/ atingir a meta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515600" y="4572000"/>
            <a:ext cx="3200400" cy="3200400"/>
          </a:xfrm>
          <a:prstGeom prst="ellipse">
            <a:avLst/>
          </a:prstGeom>
          <a:solidFill>
            <a:srgbClr val="1E7FC2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COFEN/CORENs demonstra estabilidade arrecadatória, com manutenção dos níveis de execução orçamentária observados em 2025.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moderado da receita total (+0,73%)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20116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62940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Fortalecimento das transferências correntes (+2,36%)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das receitas patrimoniais (-12,20%)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32461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62940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2376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contribuição dos CORENs de São Paulo, Rio de Janeiro e Minas Gerais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positivo para Acre, Santa Catarina e Bahia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44805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62940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para Mato Grosso e Tocantins — maiores reduções percentuais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Maiores Variações Regionais — 2025 x 2026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Maiores Crescimentos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+20,39%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532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Catarina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25328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+12,35%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2826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+9,21%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0325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 Federal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40325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+6,91%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82312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7823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4782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+4,61%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C144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Maiores Reduções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17830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-19,18%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2532888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2532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Tocantins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0" y="25328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-14,17%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3282696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32826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 do Sul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-5,67%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4032504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446520" y="40325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Goiás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75520" y="40325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-5,48%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4782312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446520" y="47823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 Santo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75520" y="4782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-3,80%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 lidera o crescimento percentual (+20,39%), enquanto Mato Grosso apresenta a maior retração (-19,18%) entre os regionais.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Fortes e Pontos de Atenção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54396" cy="502920"/>
          </a:xfrm>
          <a:prstGeom prst="roundRect">
            <a:avLst>
              <a:gd name="adj" fmla="val 10909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liquidez (Liquidez Corrente &gt; 29)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670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70048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Baixíssimo endividamento (1,75%)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94360" y="3328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3284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 robusto (R$ 604,4 mi)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86784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94360" y="3986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986784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Superávits em todas as esferas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" y="4645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645152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da RCL com pessoal baixo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0352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94360" y="5303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530352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contábil e legal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7356" y="1371600"/>
            <a:ext cx="5454396" cy="502920"/>
          </a:xfrm>
          <a:prstGeom prst="roundRect">
            <a:avLst>
              <a:gd name="adj" fmla="val 10909"/>
            </a:avLst>
          </a:prstGeom>
          <a:solidFill>
            <a:srgbClr val="9B4A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277356" y="137160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77356" y="201168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14516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80276" y="201168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superávit orçamentário (-35%)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7356" y="2670048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414516" y="2670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80276" y="2670048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acelerado das despesas correntes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7356" y="3328416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414516" y="3328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80276" y="33284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restos a pagar (R$ 32,9 mi)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77356" y="3986784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414516" y="3986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80276" y="3986784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das receitas financeiras (-12,2%)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77356" y="4645152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414516" y="4645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780276" y="4645152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das transferências concedidas (+68%)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77356" y="530352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414516" y="5303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780276" y="530352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superávit financeiro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a evolução do superávit e dos restos a pagar.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68796" y="14630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68796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54596" y="141732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despesas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54596" y="1783080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contratos de serviços e transferências concedidas para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economicidade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720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990088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355848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contratações e reajustes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LRF 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340/2008.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68796" y="3035808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368796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54596" y="2990088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da receita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54596" y="3355848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anuidades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 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atrasadas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PaguePlay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realizando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esse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Janeiro de 2026.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60857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7200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4562856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928616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norma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vigente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68796" y="460857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368796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54596" y="4562856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4596" y="4928616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Sistema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Coren.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852256" y="4754880"/>
            <a:ext cx="3321136" cy="3200400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r>
              <a:rPr lang="pt-BR" dirty="0"/>
              <a:t>               </a:t>
            </a:r>
            <a:r>
              <a:rPr lang="pt-BR" sz="1400" dirty="0"/>
              <a:t>Marcelo Ribeiro   </a:t>
            </a:r>
          </a:p>
          <a:p>
            <a:r>
              <a:rPr lang="pt-BR" sz="1400" dirty="0"/>
              <a:t>                    Medeiros</a:t>
            </a:r>
            <a:br>
              <a:rPr lang="pt-BR" sz="1400" dirty="0"/>
            </a:br>
            <a:r>
              <a:rPr lang="pt-BR" sz="1400" dirty="0"/>
              <a:t>                    Contador CRC-DF  </a:t>
            </a:r>
          </a:p>
          <a:p>
            <a:r>
              <a:rPr lang="pt-BR" sz="1400" dirty="0"/>
              <a:t>                    (RJ)066005O8</a:t>
            </a:r>
          </a:p>
          <a:p>
            <a:r>
              <a:rPr lang="pt-BR" sz="1400" dirty="0"/>
              <a:t>                    Mat. 297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concluída com base nos demonstrativos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contábeis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 Cofen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2011680" cy="0"/>
          </a:xfrm>
          <a:prstGeom prst="line">
            <a:avLst/>
          </a:prstGeom>
          <a:noFill/>
          <a:ln w="25400">
            <a:solidFill>
              <a:srgbClr val="9CC7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demonstrações estão íntegras, consistentes e em conformidade com as normas aplicáveis. A entidade apresenta saúde financeira robusta, com gestão fiscal equilibrada, porém recomenda-se atenção à trajetória de crescimento das despesas.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33312" y="6667130"/>
            <a:ext cx="6067887" cy="190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 — Brasília, 15 de julho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4342</Words>
  <Application>Microsoft Office PowerPoint</Application>
  <PresentationFormat>Widescreen</PresentationFormat>
  <Paragraphs>942</Paragraphs>
  <Slides>40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Marcelo Ribeiro Medeiros</cp:lastModifiedBy>
  <cp:revision>13</cp:revision>
  <dcterms:created xsi:type="dcterms:W3CDTF">2026-07-15T18:21:32Z</dcterms:created>
  <dcterms:modified xsi:type="dcterms:W3CDTF">2026-08-10T13:14:21Z</dcterms:modified>
</cp:coreProperties>
</file>